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1822C-7403-4131-BD72-C5E056A274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96178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262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48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E69F9-6B9D-41C3-8482-4D5D712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章书面作业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C1760D-74E7-48BB-9E02-82097326799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2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B5FE55-C2F3-4FF3-80DC-0AEF06A93098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255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书面作业要求在纸上手写、拍照（或扫描）后在雨课堂提交图片文件（用平板手写保存图片提交亦可）或</a:t>
            </a:r>
            <a:r>
              <a:rPr lang="en-US" altLang="zh-CN" dirty="0">
                <a:solidFill>
                  <a:srgbClr val="FF0000"/>
                </a:solidFill>
              </a:rPr>
              <a:t>pdf</a:t>
            </a:r>
            <a:r>
              <a:rPr lang="zh-CN" altLang="en-US" dirty="0">
                <a:solidFill>
                  <a:srgbClr val="FF0000"/>
                </a:solidFill>
              </a:rPr>
              <a:t>格式文件，</a:t>
            </a:r>
            <a:r>
              <a:rPr lang="zh-CN" altLang="en-US" b="1" dirty="0">
                <a:solidFill>
                  <a:srgbClr val="FF0000"/>
                </a:solidFill>
              </a:rPr>
              <a:t>每小题分别提交</a:t>
            </a:r>
            <a:r>
              <a:rPr lang="zh-CN" altLang="en-US" dirty="0">
                <a:solidFill>
                  <a:srgbClr val="FF0000"/>
                </a:solidFill>
              </a:rPr>
              <a:t>。老师和助教会在雨课堂圈阅、批注。</a:t>
            </a:r>
            <a:r>
              <a:rPr lang="zh-CN" altLang="en-US" b="1" dirty="0">
                <a:solidFill>
                  <a:srgbClr val="FF0000"/>
                </a:solidFill>
              </a:rPr>
              <a:t>照片一定旋转到正确方向！不要锻炼老师和助教颈椎！凡是提交</a:t>
            </a:r>
            <a:r>
              <a:rPr lang="en-US" altLang="zh-CN" b="1" dirty="0">
                <a:solidFill>
                  <a:srgbClr val="FF0000"/>
                </a:solidFill>
              </a:rPr>
              <a:t>word</a:t>
            </a:r>
            <a:r>
              <a:rPr lang="zh-CN" altLang="en-US" b="1" dirty="0">
                <a:solidFill>
                  <a:srgbClr val="FF0000"/>
                </a:solidFill>
              </a:rPr>
              <a:t>等其他无法直接批阅的格式或图片没有旋转到正确方向的，都会扣分！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书面作业都是要求独立完成。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标记“</a:t>
            </a:r>
            <a:r>
              <a:rPr lang="en-US" altLang="zh-CN" dirty="0"/>
              <a:t>*</a:t>
            </a:r>
            <a:r>
              <a:rPr lang="zh-CN" altLang="en-US" dirty="0"/>
              <a:t>”的小题也是思考题，可思考一下，不要求必做。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zh-CN" dirty="0"/>
              <a:t>、</a:t>
            </a:r>
            <a:r>
              <a:rPr lang="zh-CN" altLang="en-US" dirty="0"/>
              <a:t> （</a:t>
            </a:r>
            <a:r>
              <a:rPr lang="en-US" altLang="zh-CN" dirty="0"/>
              <a:t>0.5</a:t>
            </a:r>
            <a:r>
              <a:rPr lang="zh-CN" altLang="en-US" dirty="0"/>
              <a:t>分）</a:t>
            </a:r>
            <a:r>
              <a:rPr lang="zh-CN" altLang="zh-CN" dirty="0"/>
              <a:t>考虑文法</a:t>
            </a:r>
          </a:p>
          <a:p>
            <a:pPr lvl="1"/>
            <a:r>
              <a:rPr lang="en-US" altLang="zh-CN" dirty="0"/>
              <a:t>S</a:t>
            </a:r>
            <a:r>
              <a:rPr lang="zh-CN" altLang="zh-CN" dirty="0"/>
              <a:t>→</a:t>
            </a:r>
            <a:r>
              <a:rPr lang="en-US" altLang="zh-CN" dirty="0"/>
              <a:t>2aA | B3</a:t>
            </a:r>
            <a:endParaRPr lang="zh-CN" altLang="zh-CN" dirty="0"/>
          </a:p>
          <a:p>
            <a:pPr lvl="1"/>
            <a:r>
              <a:rPr lang="en-US" altLang="zh-CN" dirty="0"/>
              <a:t>A</a:t>
            </a:r>
            <a:r>
              <a:rPr lang="zh-CN" altLang="zh-CN" dirty="0"/>
              <a:t>→</a:t>
            </a:r>
            <a:r>
              <a:rPr lang="en-US" altLang="zh-CN" dirty="0" err="1"/>
              <a:t>aS</a:t>
            </a:r>
            <a:r>
              <a:rPr lang="en-US" altLang="zh-CN" dirty="0"/>
              <a:t> | </a:t>
            </a:r>
            <a:r>
              <a:rPr lang="en-US" altLang="zh-CN" dirty="0" err="1"/>
              <a:t>baA</a:t>
            </a:r>
            <a:r>
              <a:rPr lang="en-US" altLang="zh-CN" dirty="0"/>
              <a:t> | 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endParaRPr lang="zh-CN" altLang="zh-CN" dirty="0">
              <a:latin typeface="Symbol" panose="05050102010706020507" pitchFamily="18" charset="2"/>
            </a:endParaRPr>
          </a:p>
          <a:p>
            <a:pPr lvl="1"/>
            <a:r>
              <a:rPr lang="en-US" altLang="zh-CN" dirty="0"/>
              <a:t>B</a:t>
            </a:r>
            <a:r>
              <a:rPr lang="zh-CN" altLang="zh-CN" dirty="0"/>
              <a:t>→</a:t>
            </a:r>
            <a:r>
              <a:rPr lang="en-US" altLang="zh-CN" dirty="0"/>
              <a:t>1aAB | 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endParaRPr lang="zh-CN" altLang="zh-CN" dirty="0"/>
          </a:p>
          <a:p>
            <a:pPr lvl="1"/>
            <a:endParaRPr lang="zh-CN" altLang="zh-CN" dirty="0"/>
          </a:p>
          <a:p>
            <a:pPr marL="699516" lvl="1" indent="-342900">
              <a:buFont typeface="+mj-lt"/>
              <a:buAutoNum type="alphaLcParenR"/>
            </a:pPr>
            <a:r>
              <a:rPr lang="zh-CN" altLang="zh-CN" dirty="0"/>
              <a:t>给出终结符集、非终结符集和开始符号。</a:t>
            </a:r>
          </a:p>
          <a:p>
            <a:pPr marL="699516" lvl="1" indent="-342900">
              <a:buFont typeface="+mj-lt"/>
              <a:buAutoNum type="alphaLcParenR"/>
            </a:pPr>
            <a:r>
              <a:rPr lang="zh-CN" altLang="zh-CN" dirty="0"/>
              <a:t>证明文法可生成符号串</a:t>
            </a:r>
            <a:r>
              <a:rPr lang="en-US" altLang="zh-CN" dirty="0"/>
              <a:t>1abaa2a3</a:t>
            </a:r>
            <a:r>
              <a:rPr lang="zh-CN" altLang="zh-CN" dirty="0"/>
              <a:t>。</a:t>
            </a:r>
          </a:p>
          <a:p>
            <a:pPr marL="699516" lvl="1" indent="-342900">
              <a:buFont typeface="+mj-lt"/>
              <a:buAutoNum type="alphaLcParenR"/>
            </a:pPr>
            <a:r>
              <a:rPr lang="zh-CN" altLang="zh-CN" dirty="0"/>
              <a:t>为此符号串构造语法树。</a:t>
            </a:r>
          </a:p>
          <a:p>
            <a:endParaRPr lang="en-US" altLang="zh-CN" dirty="0"/>
          </a:p>
          <a:p>
            <a:pPr marL="270000" algn="just">
              <a:spcAft>
                <a:spcPts val="0"/>
              </a:spcAft>
            </a:pPr>
            <a:endParaRPr lang="zh-CN" altLang="zh-CN" sz="1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261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en-US" altLang="zh-CN" dirty="0"/>
              <a:t>2</a:t>
            </a:r>
            <a:r>
              <a:rPr lang="zh-CN" altLang="zh-CN" dirty="0"/>
              <a:t>、</a:t>
            </a:r>
            <a:r>
              <a:rPr lang="zh-CN" altLang="en-US" dirty="0"/>
              <a:t> （</a:t>
            </a:r>
            <a:r>
              <a:rPr lang="en-US" altLang="zh-CN" dirty="0"/>
              <a:t>0.5</a:t>
            </a:r>
            <a:r>
              <a:rPr lang="zh-CN" altLang="en-US" dirty="0"/>
              <a:t>分）</a:t>
            </a:r>
            <a:r>
              <a:rPr lang="zh-CN" altLang="zh-CN" dirty="0"/>
              <a:t>下列文法生成什么样的语言？是否有二义性？</a:t>
            </a:r>
            <a:r>
              <a:rPr lang="en-US" altLang="zh-CN" dirty="0"/>
              <a:t> </a:t>
            </a:r>
            <a:endParaRPr lang="zh-CN" altLang="zh-CN" dirty="0"/>
          </a:p>
          <a:p>
            <a:pPr lvl="1"/>
            <a:r>
              <a:rPr lang="en-US" altLang="zh-CN" dirty="0"/>
              <a:t>a) L </a:t>
            </a:r>
            <a:r>
              <a:rPr lang="zh-CN" altLang="zh-CN" dirty="0"/>
              <a:t>→ </a:t>
            </a:r>
            <a:r>
              <a:rPr lang="en-US" altLang="zh-CN" dirty="0"/>
              <a:t>L ∪ L | LL | L * | (L) | a</a:t>
            </a:r>
            <a:endParaRPr lang="zh-CN" altLang="zh-CN" dirty="0"/>
          </a:p>
          <a:p>
            <a:pPr lvl="1"/>
            <a:r>
              <a:rPr lang="en-US" altLang="zh-CN" dirty="0"/>
              <a:t>b* </a:t>
            </a:r>
            <a:r>
              <a:rPr lang="zh-CN" altLang="en-US" dirty="0"/>
              <a:t>非必做</a:t>
            </a:r>
            <a:r>
              <a:rPr lang="en-US" altLang="zh-CN" dirty="0"/>
              <a:t>) B </a:t>
            </a:r>
            <a:r>
              <a:rPr lang="zh-CN" altLang="zh-CN" dirty="0"/>
              <a:t>→ </a:t>
            </a:r>
            <a:r>
              <a:rPr lang="en-US" altLang="zh-CN" dirty="0"/>
              <a:t>B ‘&amp;’ B | B ‘|’ B | ‘~’ B | (B) | 0 | 1</a:t>
            </a:r>
            <a:endParaRPr lang="zh-CN" altLang="zh-CN" dirty="0"/>
          </a:p>
          <a:p>
            <a:pPr marL="270000" algn="just">
              <a:spcAft>
                <a:spcPts val="0"/>
              </a:spcAft>
            </a:pPr>
            <a:endParaRPr lang="en-US" altLang="zh-CN" sz="1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649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en-US" altLang="zh-CN" dirty="0"/>
              <a:t>3</a:t>
            </a:r>
            <a:r>
              <a:rPr lang="zh-CN" altLang="zh-CN" dirty="0"/>
              <a:t>、</a:t>
            </a:r>
            <a:r>
              <a:rPr lang="zh-CN" altLang="en-US" dirty="0"/>
              <a:t> （</a:t>
            </a:r>
            <a:r>
              <a:rPr lang="en-US" altLang="zh-CN" dirty="0"/>
              <a:t>0.5</a:t>
            </a:r>
            <a:r>
              <a:rPr lang="zh-CN" altLang="en-US" dirty="0"/>
              <a:t>分）</a:t>
            </a:r>
            <a:r>
              <a:rPr lang="zh-CN" altLang="zh-CN" dirty="0"/>
              <a:t>为下列语言构造非二义性的上下文无关文法</a:t>
            </a:r>
          </a:p>
          <a:p>
            <a:pPr lvl="1"/>
            <a:r>
              <a:rPr lang="en-US" altLang="zh-CN" dirty="0"/>
              <a:t>a) </a:t>
            </a:r>
            <a:r>
              <a:rPr lang="zh-CN" altLang="zh-CN" dirty="0"/>
              <a:t>以</a:t>
            </a:r>
            <a:r>
              <a:rPr lang="en-US" altLang="zh-CN" dirty="0"/>
              <a:t>‘,’</a:t>
            </a:r>
            <a:r>
              <a:rPr lang="zh-CN" altLang="zh-CN" dirty="0"/>
              <a:t>间隔的右结合的标识符列表</a:t>
            </a:r>
          </a:p>
          <a:p>
            <a:pPr lvl="1"/>
            <a:r>
              <a:rPr lang="en-US" altLang="zh-CN" dirty="0"/>
              <a:t>b* </a:t>
            </a:r>
            <a:r>
              <a:rPr lang="zh-CN" altLang="en-US" dirty="0"/>
              <a:t>非必做</a:t>
            </a:r>
            <a:r>
              <a:rPr lang="en-US" altLang="zh-CN" dirty="0"/>
              <a:t>) </a:t>
            </a:r>
            <a:r>
              <a:rPr lang="zh-CN" altLang="zh-CN" dirty="0"/>
              <a:t>前缀表示的算术表达式</a:t>
            </a:r>
          </a:p>
          <a:p>
            <a:r>
              <a:rPr lang="en-US" altLang="zh-CN" dirty="0"/>
              <a:t> </a:t>
            </a:r>
            <a:endParaRPr lang="zh-CN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677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EB4949F-D931-4B68-A33B-D26EE16EA9A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634999"/>
            <a:ext cx="5715000" cy="7572375"/>
          </a:xfrm>
          <a:prstGeom prst="rect">
            <a:avLst/>
          </a:prstGeom>
          <a:noFill/>
        </p:spPr>
        <p:txBody>
          <a:bodyPr vert="horz" wrap="square" rtlCol="0" anchor="t" anchorCtr="0">
            <a:noAutofit/>
          </a:bodyPr>
          <a:lstStyle/>
          <a:p>
            <a:r>
              <a:rPr lang="en-US" altLang="zh-CN" dirty="0"/>
              <a:t>4</a:t>
            </a:r>
            <a:r>
              <a:rPr lang="zh-CN" altLang="zh-CN" dirty="0"/>
              <a:t>、</a:t>
            </a:r>
            <a:r>
              <a:rPr lang="zh-CN" altLang="en-US" dirty="0"/>
              <a:t> （</a:t>
            </a:r>
            <a:r>
              <a:rPr lang="en-US" altLang="zh-CN" dirty="0"/>
              <a:t>0.5</a:t>
            </a:r>
            <a:r>
              <a:rPr lang="zh-CN" altLang="en-US" dirty="0"/>
              <a:t>分）</a:t>
            </a:r>
            <a:r>
              <a:rPr lang="zh-CN" altLang="zh-CN" dirty="0"/>
              <a:t>构造</a:t>
            </a:r>
            <a:r>
              <a:rPr lang="zh-CN" altLang="en-US" dirty="0"/>
              <a:t>语法制导定义</a:t>
            </a:r>
            <a:r>
              <a:rPr lang="zh-CN" altLang="zh-CN" dirty="0"/>
              <a:t>，实现</a:t>
            </a:r>
            <a:r>
              <a:rPr lang="zh-CN" altLang="en-US" dirty="0"/>
              <a:t>逻辑运算</a:t>
            </a:r>
            <a:r>
              <a:rPr lang="zh-CN" altLang="zh-CN" dirty="0"/>
              <a:t>表达式</a:t>
            </a:r>
            <a:r>
              <a:rPr lang="zh-CN" altLang="en-US" dirty="0"/>
              <a:t>求值</a:t>
            </a:r>
            <a:r>
              <a:rPr lang="zh-CN" altLang="zh-CN" dirty="0"/>
              <a:t>的翻译。</a:t>
            </a:r>
            <a:r>
              <a:rPr lang="zh-CN" altLang="en-US" dirty="0"/>
              <a:t>基本逻辑运算表达式就是真假值常量</a:t>
            </a:r>
            <a:r>
              <a:rPr lang="en-US" altLang="zh-CN" dirty="0"/>
              <a:t>T</a:t>
            </a:r>
            <a:r>
              <a:rPr lang="zh-CN" altLang="en-US" dirty="0"/>
              <a:t>和</a:t>
            </a:r>
            <a:r>
              <a:rPr lang="en-US" altLang="zh-CN" dirty="0"/>
              <a:t>F</a:t>
            </a:r>
            <a:r>
              <a:rPr lang="zh-CN" altLang="en-US" dirty="0"/>
              <a:t>，运算包括逻辑与、逻辑或、逻辑非</a:t>
            </a:r>
            <a:r>
              <a:rPr lang="zh-CN" altLang="zh-CN" dirty="0"/>
              <a:t>。给出</a:t>
            </a:r>
            <a:r>
              <a:rPr lang="en-US" altLang="zh-CN" dirty="0"/>
              <a:t>F &amp;&amp; (T || !F)</a:t>
            </a:r>
            <a:r>
              <a:rPr lang="zh-CN" altLang="zh-CN" dirty="0"/>
              <a:t>的</a:t>
            </a:r>
            <a:r>
              <a:rPr lang="zh-CN" altLang="en-US" dirty="0"/>
              <a:t>注释</a:t>
            </a:r>
            <a:r>
              <a:rPr lang="zh-CN" altLang="zh-CN" dirty="0"/>
              <a:t>语法树，并给出</a:t>
            </a:r>
            <a:r>
              <a:rPr lang="zh-CN" altLang="en-US" dirty="0"/>
              <a:t>最终</a:t>
            </a:r>
            <a:r>
              <a:rPr lang="zh-CN" altLang="zh-CN" dirty="0"/>
              <a:t>翻译结果。</a:t>
            </a:r>
          </a:p>
          <a:p>
            <a:r>
              <a:rPr lang="en-US" altLang="zh-CN" dirty="0"/>
              <a:t> </a:t>
            </a:r>
            <a:endParaRPr lang="zh-CN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（思考</a:t>
            </a:r>
            <a:r>
              <a:rPr lang="zh-CN" altLang="en-US" dirty="0"/>
              <a:t>题</a:t>
            </a:r>
            <a:r>
              <a:rPr lang="en-US" altLang="zh-CN" dirty="0"/>
              <a:t>*</a:t>
            </a:r>
            <a:r>
              <a:rPr lang="zh-CN" altLang="en-US" dirty="0"/>
              <a:t>，非必做</a:t>
            </a:r>
            <a:r>
              <a:rPr lang="zh-CN" altLang="zh-CN" dirty="0"/>
              <a:t>）</a:t>
            </a:r>
            <a:r>
              <a:rPr lang="en-US" altLang="zh-CN" dirty="0"/>
              <a:t>C</a:t>
            </a:r>
            <a:r>
              <a:rPr lang="zh-CN" altLang="zh-CN" dirty="0"/>
              <a:t>语言</a:t>
            </a:r>
            <a:r>
              <a:rPr lang="en-US" altLang="zh-CN" dirty="0"/>
              <a:t>for</a:t>
            </a:r>
            <a:r>
              <a:rPr lang="zh-CN" altLang="zh-CN" dirty="0"/>
              <a:t>语句具有如下形式</a:t>
            </a:r>
          </a:p>
          <a:p>
            <a:r>
              <a:rPr lang="en-US" altLang="zh-CN" dirty="0"/>
              <a:t>	for ( </a:t>
            </a:r>
            <a:r>
              <a:rPr lang="en-US" altLang="zh-CN" i="1" dirty="0"/>
              <a:t>expr</a:t>
            </a:r>
            <a:r>
              <a:rPr lang="en-US" altLang="zh-CN" baseline="-25000" dirty="0"/>
              <a:t>1</a:t>
            </a:r>
            <a:r>
              <a:rPr lang="en-US" altLang="zh-CN" dirty="0"/>
              <a:t>; </a:t>
            </a:r>
            <a:r>
              <a:rPr lang="en-US" altLang="zh-CN" i="1" dirty="0"/>
              <a:t>expr</a:t>
            </a:r>
            <a:r>
              <a:rPr lang="en-US" altLang="zh-CN" baseline="-25000" dirty="0"/>
              <a:t>2</a:t>
            </a:r>
            <a:r>
              <a:rPr lang="en-US" altLang="zh-CN" dirty="0"/>
              <a:t>; </a:t>
            </a:r>
            <a:r>
              <a:rPr lang="en-US" altLang="zh-CN" i="1" dirty="0"/>
              <a:t>expr</a:t>
            </a:r>
            <a:r>
              <a:rPr lang="en-US" altLang="zh-CN" baseline="-25000" dirty="0"/>
              <a:t>3</a:t>
            </a:r>
            <a:r>
              <a:rPr lang="en-US" altLang="zh-CN" dirty="0"/>
              <a:t> ) </a:t>
            </a:r>
            <a:r>
              <a:rPr lang="en-US" altLang="zh-CN" i="1" dirty="0" err="1"/>
              <a:t>stmt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zh-CN" altLang="zh-CN" dirty="0"/>
              <a:t>它与下面语句含义相似：</a:t>
            </a:r>
          </a:p>
          <a:p>
            <a:r>
              <a:rPr lang="en-US" altLang="zh-CN" dirty="0"/>
              <a:t>	</a:t>
            </a:r>
            <a:r>
              <a:rPr lang="en-US" altLang="zh-CN" i="1" dirty="0"/>
              <a:t>expr</a:t>
            </a:r>
            <a:r>
              <a:rPr lang="en-US" altLang="zh-CN" baseline="-25000" dirty="0"/>
              <a:t>1</a:t>
            </a:r>
            <a:r>
              <a:rPr lang="en-US" altLang="zh-CN" dirty="0"/>
              <a:t>; while ( </a:t>
            </a:r>
            <a:r>
              <a:rPr lang="en-US" altLang="zh-CN" i="1" dirty="0"/>
              <a:t>expr</a:t>
            </a:r>
            <a:r>
              <a:rPr lang="en-US" altLang="zh-CN" baseline="-25000" dirty="0"/>
              <a:t>2</a:t>
            </a:r>
            <a:r>
              <a:rPr lang="en-US" altLang="zh-CN" dirty="0"/>
              <a:t> ) { </a:t>
            </a:r>
            <a:r>
              <a:rPr lang="en-US" altLang="zh-CN" i="1" dirty="0" err="1"/>
              <a:t>stmt</a:t>
            </a:r>
            <a:r>
              <a:rPr lang="en-US" altLang="zh-CN" dirty="0"/>
              <a:t> ; </a:t>
            </a:r>
            <a:r>
              <a:rPr lang="en-US" altLang="zh-CN" i="1" dirty="0"/>
              <a:t>expr</a:t>
            </a:r>
            <a:r>
              <a:rPr lang="en-US" altLang="zh-CN" baseline="-25000" dirty="0"/>
              <a:t>3</a:t>
            </a:r>
            <a:r>
              <a:rPr lang="en-US" altLang="zh-CN" dirty="0"/>
              <a:t> ; } </a:t>
            </a:r>
            <a:endParaRPr lang="zh-CN" altLang="zh-CN" dirty="0"/>
          </a:p>
          <a:p>
            <a:r>
              <a:rPr lang="en-US" altLang="zh-CN" dirty="0"/>
              <a:t>	</a:t>
            </a:r>
            <a:r>
              <a:rPr lang="zh-CN" altLang="zh-CN" dirty="0"/>
              <a:t>设计翻译模式，将</a:t>
            </a:r>
            <a:r>
              <a:rPr lang="en-US" altLang="zh-CN" dirty="0"/>
              <a:t>C</a:t>
            </a:r>
            <a:r>
              <a:rPr lang="zh-CN" altLang="zh-CN" dirty="0"/>
              <a:t>语言的</a:t>
            </a:r>
            <a:r>
              <a:rPr lang="en-US" altLang="zh-CN" dirty="0"/>
              <a:t>for</a:t>
            </a:r>
            <a:r>
              <a:rPr lang="zh-CN" altLang="zh-CN" dirty="0"/>
              <a:t>语句翻译为汇编码</a:t>
            </a:r>
          </a:p>
          <a:p>
            <a:pPr marL="270000" algn="just">
              <a:spcAft>
                <a:spcPts val="0"/>
              </a:spcAft>
            </a:pPr>
            <a:endParaRPr lang="zh-CN" altLang="zh-CN" sz="1600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AAD9DE-EB78-4700-A73F-C2061EC1FF9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2" name="矩形 11" hidden="1">
            <a:extLst>
              <a:ext uri="{FF2B5EF4-FFF2-40B4-BE49-F238E27FC236}">
                <a16:creationId xmlns:a16="http://schemas.microsoft.com/office/drawing/2014/main" id="{7A532EE4-4327-46BD-BB9E-53F7E23F915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文本框 16" hidden="1">
            <a:extLst>
              <a:ext uri="{FF2B5EF4-FFF2-40B4-BE49-F238E27FC236}">
                <a16:creationId xmlns:a16="http://schemas.microsoft.com/office/drawing/2014/main" id="{1DC77BFC-C8B6-4964-B43B-DCB46B4513E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 hidden="1">
            <a:extLst>
              <a:ext uri="{FF2B5EF4-FFF2-40B4-BE49-F238E27FC236}">
                <a16:creationId xmlns:a16="http://schemas.microsoft.com/office/drawing/2014/main" id="{2F3BA613-906C-4F7E-9545-5B4E18EE593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350000" y="1270000"/>
            <a:ext cx="461264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16" name="组合 15" hidden="1">
            <a:extLst>
              <a:ext uri="{FF2B5EF4-FFF2-40B4-BE49-F238E27FC236}">
                <a16:creationId xmlns:a16="http://schemas.microsoft.com/office/drawing/2014/main" id="{8094A5E6-38E2-421E-9349-DAD6344CA4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3" name="RemarkBack" hidden="1">
              <a:extLst>
                <a:ext uri="{FF2B5EF4-FFF2-40B4-BE49-F238E27FC236}">
                  <a16:creationId xmlns:a16="http://schemas.microsoft.com/office/drawing/2014/main" id="{E151523A-162A-4DC7-8B3A-4E8646C6824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RemarkBlock" hidden="1">
              <a:extLst>
                <a:ext uri="{FF2B5EF4-FFF2-40B4-BE49-F238E27FC236}">
                  <a16:creationId xmlns:a16="http://schemas.microsoft.com/office/drawing/2014/main" id="{46CB9BE8-ABF5-476E-AEF1-0A391167ED5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RemarkTitleText" hidden="1">
              <a:extLst>
                <a:ext uri="{FF2B5EF4-FFF2-40B4-BE49-F238E27FC236}">
                  <a16:creationId xmlns:a16="http://schemas.microsoft.com/office/drawing/2014/main" id="{DE3F1CD5-B80D-44A8-9477-23D015EAB72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DF90F35-0C7F-426F-8EAB-71862230F6D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DF222A90-94AC-4E86-8347-C91EF71E85A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ADDDE70-69FC-43F6-8995-F5149CF5ECB1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BFBDE1A9-C343-4924-BF9E-8B9BE6BF2BD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400DF923-22EE-45B8-B11F-B69D1BBF1255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0.5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EC1FD1B-47AE-4EDD-A64E-A87102C7E234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3526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False"/>
  <p:tag name="PROBLEMSCORE" val="0.5"/>
  <p:tag name="PROBLEMVOICEALLOWED" val="Fals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619</Words>
  <Application>Microsoft Office PowerPoint</Application>
  <PresentationFormat>全屏显示(16:10)</PresentationFormat>
  <Paragraphs>56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等线 Light</vt:lpstr>
      <vt:lpstr>Microsoft Yahei</vt:lpstr>
      <vt:lpstr>Arial</vt:lpstr>
      <vt:lpstr>Symbol</vt:lpstr>
      <vt:lpstr>Office 主题​​</vt:lpstr>
      <vt:lpstr>第2章书面作业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预备工作2 定义你的编译器功能 &amp; 汇编编程</dc:title>
  <dc:creator>王 刚</dc:creator>
  <cp:lastModifiedBy>刚 王</cp:lastModifiedBy>
  <cp:revision>43</cp:revision>
  <dcterms:created xsi:type="dcterms:W3CDTF">2019-09-29T04:07:54Z</dcterms:created>
  <dcterms:modified xsi:type="dcterms:W3CDTF">2025-09-21T03:12:18Z</dcterms:modified>
</cp:coreProperties>
</file>