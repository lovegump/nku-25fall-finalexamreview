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5715000" cy="9144000" type="screen16x10"/>
  <p:notesSz cx="6858000" cy="9144000"/>
  <p:defaultTextStyle>
    <a:defPPr>
      <a:defRPr lang="zh-CN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30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D1822C-7403-4131-BD72-C5E056A274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</a:p>
        </p:txBody>
      </p:sp>
    </p:spTree>
    <p:extLst>
      <p:ext uri="{BB962C8B-B14F-4D97-AF65-F5344CB8AC3E}">
        <p14:creationId xmlns:p14="http://schemas.microsoft.com/office/powerpoint/2010/main" val="1961784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7262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48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image" Target="../media/image1.tmp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7E69F9-6B9D-41C3-8482-4D5D712E2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代码优化</a:t>
            </a:r>
            <a:br>
              <a:rPr lang="en-US" altLang="zh-CN"/>
            </a:br>
            <a:r>
              <a:rPr lang="zh-CN" altLang="en-US"/>
              <a:t>（小组合作）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C1760D-74E7-48BB-9E02-82097326799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</a:rPr>
              <a:t>总分</a:t>
            </a:r>
            <a:r>
              <a:rPr lang="en-US" altLang="zh-CN" sz="2000" dirty="0">
                <a:solidFill>
                  <a:srgbClr val="000000"/>
                </a:solidFill>
              </a:rPr>
              <a:t>: 5</a:t>
            </a:r>
            <a:endParaRPr lang="zh-CN" altLang="en-US" sz="2000" dirty="0">
              <a:solidFill>
                <a:srgbClr val="0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0B5FE55-C2F3-4FF3-80DC-0AEF06A93098}"/>
              </a:ext>
            </a:extLst>
          </p:cNvPr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2555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EB4949F-D931-4B68-A33B-D26EE16EA9A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r>
              <a:rPr lang="zh-CN" altLang="en-US" sz="1600" b="1" dirty="0"/>
              <a:t>一、本次实验均为进阶要求</a:t>
            </a:r>
            <a:endParaRPr lang="en-US" altLang="zh-CN" sz="1600" b="1" dirty="0"/>
          </a:p>
          <a:p>
            <a:r>
              <a:rPr lang="zh-CN" altLang="en-US" sz="1600" dirty="0"/>
              <a:t>一）完成控制流图的构建，实现删除不可达指令和不可达基本块的优化（</a:t>
            </a:r>
            <a:r>
              <a:rPr lang="en-US" altLang="zh-CN" sz="1600" dirty="0"/>
              <a:t>0.5</a:t>
            </a:r>
            <a:r>
              <a:rPr lang="zh-CN" altLang="en-US" sz="1600" dirty="0"/>
              <a:t>分）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二）实现删除没有</a:t>
            </a:r>
            <a:r>
              <a:rPr lang="en-US" altLang="zh-CN" sz="1600" dirty="0"/>
              <a:t>use</a:t>
            </a:r>
            <a:r>
              <a:rPr lang="zh-CN" altLang="en-US" sz="1600" dirty="0"/>
              <a:t>的</a:t>
            </a:r>
            <a:r>
              <a:rPr lang="en-US" altLang="zh-CN" sz="1600" dirty="0"/>
              <a:t>def</a:t>
            </a:r>
            <a:r>
              <a:rPr lang="zh-CN" altLang="en-US" sz="1600" dirty="0"/>
              <a:t>变量冗余指令的优化 （</a:t>
            </a:r>
            <a:r>
              <a:rPr lang="en-US" altLang="zh-CN" sz="1600" dirty="0"/>
              <a:t>0.5</a:t>
            </a:r>
            <a:r>
              <a:rPr lang="zh-CN" altLang="en-US" sz="1600" dirty="0"/>
              <a:t>分）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三）完成</a:t>
            </a:r>
            <a:r>
              <a:rPr lang="en-US" altLang="zh-CN" sz="1600" dirty="0"/>
              <a:t>def</a:t>
            </a:r>
            <a:r>
              <a:rPr lang="zh-CN" altLang="en-US" sz="1600" dirty="0"/>
              <a:t>和</a:t>
            </a:r>
            <a:r>
              <a:rPr lang="en-US" altLang="zh-CN" sz="1600" dirty="0"/>
              <a:t>use</a:t>
            </a:r>
            <a:r>
              <a:rPr lang="zh-CN" altLang="en-US" sz="1600" dirty="0"/>
              <a:t>均在同一基本块特殊情况的</a:t>
            </a:r>
            <a:r>
              <a:rPr lang="en-US" altLang="zh-CN" sz="1600" dirty="0"/>
              <a:t>mem2reg</a:t>
            </a:r>
            <a:r>
              <a:rPr lang="zh-CN" altLang="en-US" sz="1600" dirty="0"/>
              <a:t>（</a:t>
            </a:r>
            <a:r>
              <a:rPr lang="en-US" altLang="zh-CN" sz="1600" dirty="0"/>
              <a:t>0.5</a:t>
            </a:r>
            <a:r>
              <a:rPr lang="zh-CN" altLang="en-US" sz="1600" dirty="0"/>
              <a:t>分）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四）完成支配树的构建，并借助支配树，完成</a:t>
            </a:r>
            <a:r>
              <a:rPr lang="en-US" altLang="zh-CN" sz="1600" dirty="0"/>
              <a:t>Phi</a:t>
            </a:r>
            <a:r>
              <a:rPr lang="zh-CN" altLang="en-US" sz="1600" dirty="0"/>
              <a:t>指令插入和变量重命名的完整</a:t>
            </a:r>
            <a:r>
              <a:rPr lang="en-US" altLang="zh-CN" sz="1600" dirty="0"/>
              <a:t>mem2reg </a:t>
            </a:r>
            <a:r>
              <a:rPr lang="zh-CN" altLang="en-US" sz="1600" dirty="0"/>
              <a:t>（</a:t>
            </a:r>
            <a:r>
              <a:rPr lang="en-US" altLang="zh-CN" sz="1600" dirty="0"/>
              <a:t>1</a:t>
            </a:r>
            <a:r>
              <a:rPr lang="zh-CN" altLang="en-US" sz="1600" dirty="0"/>
              <a:t>分）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五）自由发挥，完成更多的优化</a:t>
            </a:r>
            <a:r>
              <a:rPr lang="en-US" altLang="zh-CN" sz="1600" dirty="0"/>
              <a:t>(2.5</a:t>
            </a:r>
            <a:r>
              <a:rPr lang="zh-CN" altLang="en-US" sz="1600" dirty="0"/>
              <a:t>分，多做部分可溢出实验总分，最多溢出</a:t>
            </a:r>
            <a:r>
              <a:rPr lang="en-US" altLang="zh-CN" sz="1600" dirty="0"/>
              <a:t>3</a:t>
            </a:r>
            <a:r>
              <a:rPr lang="zh-CN" altLang="en-US" sz="1600" dirty="0"/>
              <a:t>分</a:t>
            </a:r>
            <a:r>
              <a:rPr lang="en-US" altLang="zh-CN" sz="1600" dirty="0"/>
              <a:t>——</a:t>
            </a:r>
            <a:r>
              <a:rPr lang="zh-CN" altLang="en-US" sz="1600"/>
              <a:t>小雅打分</a:t>
            </a:r>
            <a:r>
              <a:rPr lang="zh-CN" altLang="en-US" sz="1600" dirty="0"/>
              <a:t>无法体现，会另外记录，</a:t>
            </a:r>
            <a:r>
              <a:rPr lang="zh-CN" altLang="en-US" sz="1600"/>
              <a:t>并在小雅评语</a:t>
            </a:r>
            <a:r>
              <a:rPr lang="zh-CN" altLang="en-US" sz="1600" dirty="0"/>
              <a:t>中记录</a:t>
            </a:r>
            <a:r>
              <a:rPr lang="en-US" altLang="zh-CN" sz="1600" dirty="0"/>
              <a:t>)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在本学期的自由发挥部分，可从以下五个优化中选择其二进行实现，得分只适用于仅实现一个的情况下，任二者总分仅为</a:t>
            </a:r>
            <a:r>
              <a:rPr lang="en-US" altLang="zh-CN" sz="1600" dirty="0"/>
              <a:t>2.5</a:t>
            </a:r>
            <a:r>
              <a:rPr lang="zh-CN" altLang="en-US" sz="1600" dirty="0"/>
              <a:t>分且不溢出总分：</a:t>
            </a:r>
            <a:endParaRPr lang="en-US" altLang="zh-CN" sz="1600" dirty="0"/>
          </a:p>
          <a:p>
            <a:r>
              <a:rPr lang="en-US" altLang="zh-CN" sz="1600" dirty="0"/>
              <a:t>1. </a:t>
            </a:r>
            <a:r>
              <a:rPr lang="zh-CN" altLang="en-US" sz="1600" dirty="0"/>
              <a:t>稀疏条件常量传播 </a:t>
            </a:r>
            <a:r>
              <a:rPr lang="en-US" altLang="zh-CN" sz="1600" dirty="0"/>
              <a:t>1.5 </a:t>
            </a:r>
            <a:r>
              <a:rPr lang="zh-CN" altLang="en-US" sz="1600" dirty="0"/>
              <a:t>分</a:t>
            </a:r>
          </a:p>
          <a:p>
            <a:r>
              <a:rPr lang="en-US" altLang="zh-CN" sz="1600" dirty="0"/>
              <a:t>2. </a:t>
            </a:r>
            <a:r>
              <a:rPr lang="zh-CN" altLang="en-US" sz="1600" dirty="0"/>
              <a:t>标量运算的循环不变量外提 </a:t>
            </a:r>
            <a:r>
              <a:rPr lang="en-US" altLang="zh-CN" sz="1600" dirty="0"/>
              <a:t>1.5 </a:t>
            </a:r>
            <a:r>
              <a:rPr lang="zh-CN" altLang="en-US" sz="1600" dirty="0"/>
              <a:t>分</a:t>
            </a:r>
          </a:p>
          <a:p>
            <a:r>
              <a:rPr lang="en-US" altLang="zh-CN" sz="1600" dirty="0"/>
              <a:t>3. </a:t>
            </a:r>
            <a:r>
              <a:rPr lang="zh-CN" altLang="en-US" sz="1600" dirty="0"/>
              <a:t>标量运算的公共子表达式删除 </a:t>
            </a:r>
            <a:r>
              <a:rPr lang="en-US" altLang="zh-CN" sz="1600" dirty="0"/>
              <a:t>1.5 </a:t>
            </a:r>
            <a:r>
              <a:rPr lang="zh-CN" altLang="en-US" sz="1600" dirty="0"/>
              <a:t>分</a:t>
            </a:r>
          </a:p>
          <a:p>
            <a:r>
              <a:rPr lang="en-US" altLang="zh-CN" sz="1600" dirty="0"/>
              <a:t>4. </a:t>
            </a:r>
            <a:r>
              <a:rPr lang="zh-CN" altLang="en-US" sz="1600" dirty="0"/>
              <a:t>函数内联 </a:t>
            </a:r>
            <a:r>
              <a:rPr lang="en-US" altLang="zh-CN" sz="1600" dirty="0"/>
              <a:t>1 </a:t>
            </a:r>
            <a:r>
              <a:rPr lang="zh-CN" altLang="en-US" sz="1600" dirty="0"/>
              <a:t>分</a:t>
            </a:r>
          </a:p>
          <a:p>
            <a:r>
              <a:rPr lang="en-US" altLang="zh-CN" sz="1600" dirty="0"/>
              <a:t>5. </a:t>
            </a:r>
            <a:r>
              <a:rPr lang="zh-CN" altLang="en-US" sz="1600" dirty="0"/>
              <a:t>激进死代码消除 </a:t>
            </a:r>
            <a:r>
              <a:rPr lang="en-US" altLang="zh-CN" sz="1600" dirty="0"/>
              <a:t>1 </a:t>
            </a:r>
            <a:r>
              <a:rPr lang="zh-CN" altLang="en-US" sz="1600" dirty="0"/>
              <a:t>分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对于学有余力的同学，可以额外实现优化，获取最多</a:t>
            </a:r>
            <a:r>
              <a:rPr lang="en-US" altLang="zh-CN" sz="1600" dirty="0"/>
              <a:t>3</a:t>
            </a:r>
            <a:r>
              <a:rPr lang="zh-CN" altLang="en-US" sz="1600" dirty="0"/>
              <a:t>分的溢出实验总分的加分</a:t>
            </a:r>
            <a:r>
              <a:rPr lang="en-US" altLang="zh-CN" sz="1600" dirty="0"/>
              <a:t>bonus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r>
              <a:rPr lang="zh-CN" altLang="en-US" sz="1600" dirty="0"/>
              <a:t>具体优化可参考下一页。</a:t>
            </a:r>
            <a:endParaRPr lang="en-US" altLang="zh-CN" sz="16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AAD9DE-EB78-4700-A73F-C2061EC1FF9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2" name="矩形 11" hidden="1">
            <a:extLst>
              <a:ext uri="{FF2B5EF4-FFF2-40B4-BE49-F238E27FC236}">
                <a16:creationId xmlns:a16="http://schemas.microsoft.com/office/drawing/2014/main" id="{7A532EE4-4327-46BD-BB9E-53F7E23F915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 hidden="1">
            <a:extLst>
              <a:ext uri="{FF2B5EF4-FFF2-40B4-BE49-F238E27FC236}">
                <a16:creationId xmlns:a16="http://schemas.microsoft.com/office/drawing/2014/main" id="{1DC77BFC-C8B6-4964-B43B-DCB46B4513E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 hidden="1">
            <a:extLst>
              <a:ext uri="{FF2B5EF4-FFF2-40B4-BE49-F238E27FC236}">
                <a16:creationId xmlns:a16="http://schemas.microsoft.com/office/drawing/2014/main" id="{2F3BA613-906C-4F7E-9545-5B4E18EE593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350000" y="1270000"/>
            <a:ext cx="461264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16" name="组合 15" hidden="1">
            <a:extLst>
              <a:ext uri="{FF2B5EF4-FFF2-40B4-BE49-F238E27FC236}">
                <a16:creationId xmlns:a16="http://schemas.microsoft.com/office/drawing/2014/main" id="{8094A5E6-38E2-421E-9349-DAD6344CA4F6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 hidden="1">
              <a:extLst>
                <a:ext uri="{FF2B5EF4-FFF2-40B4-BE49-F238E27FC236}">
                  <a16:creationId xmlns:a16="http://schemas.microsoft.com/office/drawing/2014/main" id="{E151523A-162A-4DC7-8B3A-4E8646C6824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>
              <a:extLst>
                <a:ext uri="{FF2B5EF4-FFF2-40B4-BE49-F238E27FC236}">
                  <a16:creationId xmlns:a16="http://schemas.microsoft.com/office/drawing/2014/main" id="{46CB9BE8-ABF5-476E-AEF1-0A391167ED5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>
              <a:extLst>
                <a:ext uri="{FF2B5EF4-FFF2-40B4-BE49-F238E27FC236}">
                  <a16:creationId xmlns:a16="http://schemas.microsoft.com/office/drawing/2014/main" id="{DE3F1CD5-B80D-44A8-9477-23D015EAB72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DF90F35-0C7F-426F-8EAB-71862230F6D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DF222A90-94AC-4E86-8347-C91EF71E85A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0ADDDE70-69FC-43F6-8995-F5149CF5ECB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FBDE1A9-C343-4924-BF9E-8B9BE6BF2BD8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400DF923-22EE-45B8-B11F-B69D1BBF1255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dirty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 dirty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EC1FD1B-47AE-4EDD-A64E-A87102C7E234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02619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FA25188-E694-4813-8869-7790C4B2D23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r>
              <a:rPr lang="zh-CN" altLang="en-US" sz="1600" dirty="0"/>
              <a:t>不同优化的得分如下所示：</a:t>
            </a:r>
            <a:endParaRPr lang="en-US" altLang="zh-CN" sz="1600" dirty="0"/>
          </a:p>
          <a:p>
            <a:r>
              <a:rPr lang="en-US" altLang="zh-CN" sz="1600" dirty="0"/>
              <a:t>1</a:t>
            </a:r>
            <a:r>
              <a:rPr lang="zh-CN" altLang="en-US" sz="1600" dirty="0"/>
              <a:t>）尾递归转循环 </a:t>
            </a:r>
            <a:r>
              <a:rPr lang="en-US" altLang="zh-CN" sz="1600" dirty="0"/>
              <a:t>(</a:t>
            </a:r>
            <a:r>
              <a:rPr lang="en-US" altLang="zh-CN" sz="1600" dirty="0" err="1"/>
              <a:t>tco</a:t>
            </a:r>
            <a:r>
              <a:rPr lang="en-US" altLang="zh-CN" sz="1600" dirty="0"/>
              <a:t>) 				0.7</a:t>
            </a:r>
            <a:r>
              <a:rPr lang="zh-CN" altLang="en-US" sz="1600" dirty="0"/>
              <a:t>分</a:t>
            </a:r>
            <a:endParaRPr lang="en-US" altLang="zh-CN" sz="1600" dirty="0"/>
          </a:p>
          <a:p>
            <a:r>
              <a:rPr lang="en-US" altLang="zh-CN" sz="1600" dirty="0"/>
              <a:t>2</a:t>
            </a:r>
            <a:r>
              <a:rPr lang="zh-CN" altLang="en-US" sz="1600" dirty="0"/>
              <a:t>）部分冗余消除 </a:t>
            </a:r>
            <a:r>
              <a:rPr lang="en-US" altLang="zh-CN" sz="1600" dirty="0"/>
              <a:t>SSAPRE(</a:t>
            </a:r>
            <a:r>
              <a:rPr lang="zh-CN" altLang="en-US" sz="1600" dirty="0"/>
              <a:t>标量</a:t>
            </a:r>
            <a:r>
              <a:rPr lang="en-US" altLang="zh-CN" sz="1600" dirty="0"/>
              <a:t>) 			2</a:t>
            </a:r>
            <a:r>
              <a:rPr lang="zh-CN" altLang="en-US" sz="1600" dirty="0"/>
              <a:t>分</a:t>
            </a:r>
            <a:endParaRPr lang="en-US" altLang="zh-CN" sz="1600" dirty="0"/>
          </a:p>
          <a:p>
            <a:r>
              <a:rPr lang="en-US" altLang="zh-CN" sz="1600" dirty="0"/>
              <a:t>3</a:t>
            </a:r>
            <a:r>
              <a:rPr lang="zh-CN" altLang="en-US" sz="1600" dirty="0"/>
              <a:t>）部分冗余消除 </a:t>
            </a:r>
            <a:r>
              <a:rPr lang="en-US" altLang="zh-CN" sz="1600" dirty="0"/>
              <a:t>GCM/GVN(</a:t>
            </a:r>
            <a:r>
              <a:rPr lang="zh-CN" altLang="en-US" sz="1600" dirty="0"/>
              <a:t>标量</a:t>
            </a:r>
            <a:r>
              <a:rPr lang="en-US" altLang="zh-CN" sz="1600" dirty="0"/>
              <a:t>) 		1.5</a:t>
            </a:r>
            <a:r>
              <a:rPr lang="zh-CN" altLang="en-US" sz="1600" dirty="0"/>
              <a:t>分</a:t>
            </a:r>
            <a:endParaRPr lang="en-US" altLang="zh-CN" sz="1600" dirty="0"/>
          </a:p>
          <a:p>
            <a:r>
              <a:rPr lang="en-US" altLang="zh-CN" sz="1600" dirty="0"/>
              <a:t>4</a:t>
            </a:r>
            <a:r>
              <a:rPr lang="zh-CN" altLang="en-US" sz="1600" dirty="0"/>
              <a:t>）部分冗余消除 </a:t>
            </a:r>
            <a:r>
              <a:rPr lang="en-US" altLang="zh-CN" sz="1600" dirty="0"/>
              <a:t>SSAPRE(</a:t>
            </a:r>
            <a:r>
              <a:rPr lang="zh-CN" altLang="en-US" sz="1600" dirty="0"/>
              <a:t>内存操作</a:t>
            </a:r>
            <a:r>
              <a:rPr lang="en-US" altLang="zh-CN" sz="1600" dirty="0"/>
              <a:t>)		2</a:t>
            </a:r>
            <a:r>
              <a:rPr lang="zh-CN" altLang="en-US" sz="1600" dirty="0"/>
              <a:t>分</a:t>
            </a:r>
            <a:endParaRPr lang="en-US" altLang="zh-CN" sz="1600" dirty="0"/>
          </a:p>
          <a:p>
            <a:r>
              <a:rPr lang="en-US" altLang="zh-CN" sz="1600" dirty="0"/>
              <a:t>5</a:t>
            </a:r>
            <a:r>
              <a:rPr lang="zh-CN" altLang="en-US" sz="1600" dirty="0"/>
              <a:t>）部分冗余消除 </a:t>
            </a:r>
            <a:r>
              <a:rPr lang="en-US" altLang="zh-CN" sz="1600" dirty="0"/>
              <a:t>GCM/GVN(</a:t>
            </a:r>
            <a:r>
              <a:rPr lang="zh-CN" altLang="en-US" sz="1600" dirty="0"/>
              <a:t>内存操作</a:t>
            </a:r>
            <a:r>
              <a:rPr lang="en-US" altLang="zh-CN" sz="1600" dirty="0"/>
              <a:t>) 		1</a:t>
            </a:r>
            <a:r>
              <a:rPr lang="zh-CN" altLang="en-US" sz="1600" dirty="0"/>
              <a:t>分</a:t>
            </a:r>
            <a:endParaRPr lang="en-US" altLang="zh-CN" sz="1600" dirty="0"/>
          </a:p>
          <a:p>
            <a:r>
              <a:rPr lang="en-US" altLang="zh-CN" sz="1600" dirty="0"/>
              <a:t>6</a:t>
            </a:r>
            <a:r>
              <a:rPr lang="zh-CN" altLang="en-US" sz="1600" dirty="0"/>
              <a:t>）基本块内的完全冗余消除</a:t>
            </a:r>
            <a:r>
              <a:rPr lang="en-US" altLang="zh-CN" sz="1600" dirty="0"/>
              <a:t>(</a:t>
            </a:r>
            <a:r>
              <a:rPr lang="zh-CN" altLang="en-US" sz="1600" dirty="0"/>
              <a:t>内存操作</a:t>
            </a:r>
            <a:r>
              <a:rPr lang="en-US" altLang="zh-CN" sz="1600" dirty="0"/>
              <a:t>+call) 	1</a:t>
            </a:r>
            <a:r>
              <a:rPr lang="zh-CN" altLang="en-US" sz="1600" dirty="0"/>
              <a:t>分</a:t>
            </a:r>
            <a:endParaRPr lang="en-US" altLang="zh-CN" sz="1600" dirty="0"/>
          </a:p>
          <a:p>
            <a:r>
              <a:rPr lang="en-US" altLang="zh-CN" sz="1600" dirty="0"/>
              <a:t>7</a:t>
            </a:r>
            <a:r>
              <a:rPr lang="zh-CN" altLang="en-US" sz="1600" dirty="0"/>
              <a:t>）完全冗余消除</a:t>
            </a:r>
            <a:r>
              <a:rPr lang="en-US" altLang="zh-CN" sz="1600" dirty="0"/>
              <a:t>(</a:t>
            </a:r>
            <a:r>
              <a:rPr lang="zh-CN" altLang="en-US" sz="1600" dirty="0"/>
              <a:t>内存操作</a:t>
            </a:r>
            <a:r>
              <a:rPr lang="en-US" altLang="zh-CN" sz="1600" dirty="0"/>
              <a:t>) 			1.5</a:t>
            </a:r>
            <a:r>
              <a:rPr lang="zh-CN" altLang="en-US" sz="1600" dirty="0"/>
              <a:t>分</a:t>
            </a:r>
            <a:endParaRPr lang="en-US" altLang="zh-CN" sz="1600" dirty="0"/>
          </a:p>
          <a:p>
            <a:r>
              <a:rPr lang="en-US" altLang="zh-CN" sz="1600" dirty="0"/>
              <a:t>8</a:t>
            </a:r>
            <a:r>
              <a:rPr lang="zh-CN" altLang="en-US" sz="1600" dirty="0"/>
              <a:t>）循环不变量外提 </a:t>
            </a:r>
            <a:r>
              <a:rPr lang="en-US" altLang="zh-CN" sz="1600" dirty="0"/>
              <a:t>(</a:t>
            </a:r>
            <a:r>
              <a:rPr lang="zh-CN" altLang="en-US" sz="1600" dirty="0"/>
              <a:t>内存操作 </a:t>
            </a:r>
            <a:r>
              <a:rPr lang="en-US" altLang="zh-CN" sz="1600" dirty="0"/>
              <a:t>+call) 		1</a:t>
            </a:r>
            <a:r>
              <a:rPr lang="zh-CN" altLang="en-US" sz="1600" dirty="0"/>
              <a:t>分</a:t>
            </a:r>
            <a:endParaRPr lang="en-US" altLang="zh-CN" sz="1600" dirty="0"/>
          </a:p>
          <a:p>
            <a:r>
              <a:rPr lang="en-US" altLang="zh-CN" sz="1600" dirty="0"/>
              <a:t>9</a:t>
            </a:r>
            <a:r>
              <a:rPr lang="zh-CN" altLang="en-US" sz="1600" dirty="0"/>
              <a:t>）循环归纳变量强度削弱 </a:t>
            </a:r>
            <a:r>
              <a:rPr lang="en-US" altLang="zh-CN" sz="1600" dirty="0"/>
              <a:t>			2</a:t>
            </a:r>
            <a:r>
              <a:rPr lang="zh-CN" altLang="en-US" sz="1600" dirty="0"/>
              <a:t>分</a:t>
            </a:r>
            <a:endParaRPr lang="en-US" altLang="zh-CN" sz="1600" dirty="0"/>
          </a:p>
          <a:p>
            <a:r>
              <a:rPr lang="en-US" altLang="zh-CN" sz="1600" dirty="0"/>
              <a:t>10</a:t>
            </a:r>
            <a:r>
              <a:rPr lang="zh-CN" altLang="en-US" sz="1600" dirty="0"/>
              <a:t>）循环展开 </a:t>
            </a:r>
            <a:r>
              <a:rPr lang="en-US" altLang="zh-CN" sz="1600" dirty="0"/>
              <a:t>					3</a:t>
            </a:r>
            <a:r>
              <a:rPr lang="zh-CN" altLang="en-US" sz="1600" dirty="0"/>
              <a:t>分</a:t>
            </a:r>
            <a:endParaRPr lang="en-US" altLang="zh-CN" sz="1600" dirty="0"/>
          </a:p>
          <a:p>
            <a:r>
              <a:rPr lang="en-US" altLang="zh-CN" sz="1600" dirty="0"/>
              <a:t>11</a:t>
            </a:r>
            <a:r>
              <a:rPr lang="zh-CN" altLang="en-US" sz="1600" dirty="0"/>
              <a:t>） </a:t>
            </a:r>
            <a:r>
              <a:rPr lang="en-US" altLang="zh-CN" sz="1600" dirty="0" err="1"/>
              <a:t>LoopFuse</a:t>
            </a:r>
            <a:r>
              <a:rPr lang="en-US" altLang="zh-CN" sz="1600" dirty="0"/>
              <a:t> 					4</a:t>
            </a:r>
            <a:r>
              <a:rPr lang="zh-CN" altLang="en-US" sz="1600" dirty="0"/>
              <a:t>分</a:t>
            </a:r>
            <a:endParaRPr lang="en-US" altLang="zh-CN" sz="1600" dirty="0"/>
          </a:p>
          <a:p>
            <a:r>
              <a:rPr lang="en-US" altLang="zh-CN" sz="1600" dirty="0"/>
              <a:t>12</a:t>
            </a:r>
            <a:r>
              <a:rPr lang="zh-CN" altLang="en-US" sz="1600" dirty="0"/>
              <a:t>）自动并行化 </a:t>
            </a:r>
            <a:r>
              <a:rPr lang="en-US" altLang="zh-CN" sz="1600" dirty="0"/>
              <a:t>				6</a:t>
            </a:r>
            <a:r>
              <a:rPr lang="zh-CN" altLang="en-US" sz="1600" dirty="0"/>
              <a:t>分</a:t>
            </a:r>
            <a:endParaRPr lang="en-US" altLang="zh-CN" sz="1600" dirty="0"/>
          </a:p>
          <a:p>
            <a:r>
              <a:rPr lang="en-US" altLang="zh-CN" sz="1600" dirty="0"/>
              <a:t>13</a:t>
            </a:r>
            <a:r>
              <a:rPr lang="zh-CN" altLang="en-US" sz="1600" dirty="0"/>
              <a:t>）自动向量化 </a:t>
            </a:r>
            <a:r>
              <a:rPr lang="en-US" altLang="zh-CN" sz="1600" dirty="0"/>
              <a:t>				6</a:t>
            </a:r>
            <a:r>
              <a:rPr lang="zh-CN" altLang="en-US" sz="1600" dirty="0"/>
              <a:t>分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六）构造</a:t>
            </a:r>
            <a:r>
              <a:rPr lang="en-US" altLang="zh-CN" sz="1600" dirty="0" err="1"/>
              <a:t>SysY</a:t>
            </a:r>
            <a:r>
              <a:rPr lang="zh-CN" altLang="en-US" sz="1600" dirty="0"/>
              <a:t>示例程序，调试优化是否正确。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七</a:t>
            </a:r>
            <a:r>
              <a:rPr lang="zh-CN" altLang="en-US" sz="1600"/>
              <a:t>）</a:t>
            </a:r>
            <a:r>
              <a:rPr lang="zh-CN" altLang="en-US" sz="1600" dirty="0"/>
              <a:t>在长江雨课堂提交</a:t>
            </a:r>
            <a:r>
              <a:rPr lang="en-US" altLang="zh-CN" sz="1600" dirty="0"/>
              <a:t>GitLab</a:t>
            </a:r>
            <a:r>
              <a:rPr lang="zh-CN" altLang="en-US" sz="1600" dirty="0"/>
              <a:t>链接。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en-US" altLang="zh-CN" sz="1400" dirty="0"/>
              <a:t>	</a:t>
            </a:r>
          </a:p>
          <a:p>
            <a:pPr marL="342900" indent="-342900">
              <a:buFont typeface="+mj-lt"/>
              <a:buAutoNum type="arabicPeriod"/>
            </a:pPr>
            <a:endParaRPr lang="en-US" altLang="zh-CN" sz="1400" dirty="0"/>
          </a:p>
          <a:p>
            <a:endParaRPr lang="zh-CN" altLang="en-US" dirty="0"/>
          </a:p>
          <a:p>
            <a:endParaRPr lang="zh-CN" altLang="en-US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07787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Scor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HASREMARK" val="False"/>
  <p:tag name="PROBLEMSCORE" val="4.0"/>
  <p:tag name="PROBLEMVOICEALLOWED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560</Words>
  <Application>Microsoft Office PowerPoint</Application>
  <PresentationFormat>全屏显示(16:10)</PresentationFormat>
  <Paragraphs>51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6" baseType="lpstr">
      <vt:lpstr>Microsoft Yahei</vt:lpstr>
      <vt:lpstr>Arial</vt:lpstr>
      <vt:lpstr>Office 主题​​</vt:lpstr>
      <vt:lpstr>代码优化 （小组合作）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预备工作2 定义你的编译器功能 &amp; 汇编编程</dc:title>
  <dc:creator>王 刚</dc:creator>
  <cp:lastModifiedBy>ll L</cp:lastModifiedBy>
  <cp:revision>59</cp:revision>
  <dcterms:created xsi:type="dcterms:W3CDTF">2019-09-29T04:07:54Z</dcterms:created>
  <dcterms:modified xsi:type="dcterms:W3CDTF">2025-11-30T12:58:44Z</dcterms:modified>
</cp:coreProperties>
</file>